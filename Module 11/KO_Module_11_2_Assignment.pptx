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309" r:id="rId6"/>
    <p:sldId id="318" r:id="rId7"/>
    <p:sldId id="319" r:id="rId8"/>
    <p:sldId id="320" r:id="rId9"/>
    <p:sldId id="321" r:id="rId10"/>
    <p:sldId id="322" r:id="rId11"/>
    <p:sldId id="32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4" autoAdjust="0"/>
    <p:restoredTop sz="95405" autoAdjust="0"/>
  </p:normalViewPr>
  <p:slideViewPr>
    <p:cSldViewPr snapToGrid="0">
      <p:cViewPr varScale="1">
        <p:scale>
          <a:sx n="79" d="100"/>
          <a:sy n="79" d="100"/>
        </p:scale>
        <p:origin x="96" y="13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11/16/2025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94ED8-03B8-57EC-A052-6923C238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A618C-DAF3-B9A5-5E27-C75E46574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0DD89-CDC9-E410-E807-9697CBDF2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E104F-1145-FF63-1B3B-CD5F912C9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41671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C6D8-3720-7736-CF18-723CDDC0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A3D68-34FE-F67F-D109-3E67E0951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717CB-6821-F672-9E73-58390446D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B842-6579-94BD-1A3E-CC81CCD6C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9703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1986-FE95-48C6-4823-0C7663B7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21BA9-A0D8-36F2-15A9-1FE113CC7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1F0CA-68C2-E875-338A-FEF87115F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B976A-B010-3DC1-2282-38EF4CE6D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3694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6F87-3838-75B9-270F-3C3F2742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1AFBF-F237-3368-47FB-26892DFCC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597CA-B427-FBF7-633A-580876FD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E6588-56AC-ECFA-1B2B-9639C2CBD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2446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DD91-BD52-650C-19D4-E9A73B46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1E9D2-9F8C-E35B-9F60-F3BB137B0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D9899-E8F5-D172-C7DF-958509E2A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F3638-5F27-8563-D0EC-9D9538AFE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7591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protect.io/blog/github-security-best-practices-15-tips-to-keep-in-mind/" TargetMode="External"/><Relationship Id="rId2" Type="http://schemas.openxmlformats.org/officeDocument/2006/relationships/hyperlink" Target="https://www.endpointprotector.com/blog/your-ultimate-guide-to-source-code-protection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heckmarx.com/supply-chain-security/repository-health-monitoring-part-2-essential-practices-for-secure-repositor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2282952"/>
            <a:ext cx="10360152" cy="2292096"/>
          </a:xfrm>
        </p:spPr>
        <p:txBody>
          <a:bodyPr anchor="ctr"/>
          <a:lstStyle/>
          <a:p>
            <a:r>
              <a:rPr lang="en-US" b="1" dirty="0"/>
              <a:t>Security Controls in Shared Source Code Repositories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8554E-3656-173D-DDB4-973C983E6FD1}"/>
              </a:ext>
            </a:extLst>
          </p:cNvPr>
          <p:cNvSpPr txBox="1"/>
          <p:nvPr/>
        </p:nvSpPr>
        <p:spPr>
          <a:xfrm>
            <a:off x="463296" y="5443728"/>
            <a:ext cx="8717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Kimberly Orozco</a:t>
            </a:r>
          </a:p>
          <a:p>
            <a:r>
              <a:rPr lang="en-US" sz="2000" dirty="0">
                <a:latin typeface="+mj-lt"/>
              </a:rPr>
              <a:t>CSD380-T301 DevOps</a:t>
            </a:r>
          </a:p>
          <a:p>
            <a:r>
              <a:rPr lang="en-US" sz="2000" dirty="0">
                <a:latin typeface="+mj-lt"/>
              </a:rPr>
              <a:t>November 15, 2025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>
            <a:normAutofit/>
          </a:bodyPr>
          <a:lstStyle/>
          <a:p>
            <a:r>
              <a:rPr lang="en-US" sz="3000"/>
              <a:t>Why Security in Code Repositories Matter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Keeping code safe is very important so it’s really bad if code gets stolen or leaked from your repositories, this is what can happen: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Competitors can easily copy your 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Hackers can find and exploit holes in your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Your company can lose a lot of money AND reputation.</a:t>
            </a:r>
          </a:p>
        </p:txBody>
      </p:sp>
      <p:pic>
        <p:nvPicPr>
          <p:cNvPr id="4" name="Picture 3" descr="A blue screen with a shield and a keyhole&#10;&#10;AI-generated content may be incorrect.">
            <a:extLst>
              <a:ext uri="{FF2B5EF4-FFF2-40B4-BE49-F238E27FC236}">
                <a16:creationId xmlns:a16="http://schemas.microsoft.com/office/drawing/2014/main" id="{DBFB42E1-C7D1-064C-7779-2205308977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71" r="34497" b="-1"/>
          <a:stretch>
            <a:fillRect/>
          </a:stretch>
        </p:blipFill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E907-C877-B007-7EDB-2CCE2661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1E64223-0BC0-39AB-CAC8-3B7D9676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Create a Source Code Protection Policy</a:t>
            </a:r>
          </a:p>
        </p:txBody>
      </p:sp>
      <p:pic>
        <p:nvPicPr>
          <p:cNvPr id="5" name="Picture 4" descr="A computer with a lock on it&#10;&#10;AI-generated content may be incorrect.">
            <a:extLst>
              <a:ext uri="{FF2B5EF4-FFF2-40B4-BE49-F238E27FC236}">
                <a16:creationId xmlns:a16="http://schemas.microsoft.com/office/drawing/2014/main" id="{71B4B3F1-ED30-D595-EBE7-12781302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6" r="-3" b="-3"/>
          <a:stretch>
            <a:fillRect/>
          </a:stretch>
        </p:blipFill>
        <p:spPr>
          <a:xfrm>
            <a:off x="914400" y="2039112"/>
            <a:ext cx="4576953" cy="3877055"/>
          </a:xfrm>
          <a:prstGeom prst="rect">
            <a:avLst/>
          </a:prstGeom>
          <a:noFill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F8EF5E-8187-70C6-958F-D444F88E98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Having a policy in place helps everyone know how to work with and protect code. According to Endpoint Protector this policy should have: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Rules for using repositories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Training on secure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Strategies for encrypting code and app protection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4BFD77-3901-8522-70E4-F7EA158A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08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6233-8F3F-20E4-44EF-DFDBEAE2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DB71162-140D-5750-A085-8ACB5008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Control Access to Your Code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EDCDEB-D974-ACFE-036B-8A156F8BB4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8" y="2039112"/>
            <a:ext cx="4084321" cy="3904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isn’t a need for everyone to have access to certain code, so there should be clear rules on who gets access to what. Like,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Only letting necessary employees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Two-Factor 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Track and monitor access logs</a:t>
            </a:r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54A92A36-2464-B2EE-8867-38819D13A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548" y="2039112"/>
            <a:ext cx="6537960" cy="367760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6E085-1A9E-4201-18B4-EA2E41DA1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4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091A-88F6-19DD-FD01-D00A84D4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DF5B40-B81E-79E2-D9F1-6633BB6B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Best Repository Practices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357605-3205-D43F-554C-AFD7D94B85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8" y="2039112"/>
            <a:ext cx="6291074" cy="39044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Review code before merging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Protecting main branches from unreviewed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Pinning dependency versions to avoid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Using actively maintained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Minimizing binary files in repositories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Test the CI Pipeline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FB4A5-7B68-7C49-1D29-C99CDEEA0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6901D-E9C7-7607-F472-32537CEB1C98}"/>
              </a:ext>
            </a:extLst>
          </p:cNvPr>
          <p:cNvSpPr txBox="1"/>
          <p:nvPr/>
        </p:nvSpPr>
        <p:spPr>
          <a:xfrm>
            <a:off x="914398" y="4450080"/>
            <a:ext cx="2023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(Rose, 2025)</a:t>
            </a:r>
          </a:p>
        </p:txBody>
      </p:sp>
      <p:pic>
        <p:nvPicPr>
          <p:cNvPr id="6" name="Picture 5" descr="A group of people working on a computer&#10;&#10;AI-generated content may be incorrect.">
            <a:extLst>
              <a:ext uri="{FF2B5EF4-FFF2-40B4-BE49-F238E27FC236}">
                <a16:creationId xmlns:a16="http://schemas.microsoft.com/office/drawing/2014/main" id="{153044F9-94CA-0503-386E-79E6A9852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745" y="914400"/>
            <a:ext cx="5405488" cy="478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00EB0-E51B-3ACE-C81F-F777B9D6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8367EB1-866A-20FC-284F-1872178D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CI/CD and Automated Security Checks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58599C-4490-C152-0FF2-76D470DEF5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4670" y="2039112"/>
            <a:ext cx="6291074" cy="19720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Using automated tools can catch problems early on and lead to less issues when using them. They can: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Test code in CI pipelines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 fuzzing tests to find any vulnerabilities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Watch for any risky GitHub Action workflows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637CB-601C-CEC2-2319-FCD6DBA32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AC354-0525-C203-9BE8-6D6A4332A0BF}"/>
              </a:ext>
            </a:extLst>
          </p:cNvPr>
          <p:cNvSpPr txBox="1"/>
          <p:nvPr/>
        </p:nvSpPr>
        <p:spPr>
          <a:xfrm>
            <a:off x="914398" y="3703391"/>
            <a:ext cx="2023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(Rose, 2025)</a:t>
            </a:r>
          </a:p>
        </p:txBody>
      </p:sp>
      <p:pic>
        <p:nvPicPr>
          <p:cNvPr id="5" name="Picture 4" descr="A magnifying glass over a computer screen&#10;&#10;AI-generated content may be incorrect.">
            <a:extLst>
              <a:ext uri="{FF2B5EF4-FFF2-40B4-BE49-F238E27FC236}">
                <a16:creationId xmlns:a16="http://schemas.microsoft.com/office/drawing/2014/main" id="{F2E5E422-1D7D-DABC-CA9B-D65C40C40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09" y="1978863"/>
            <a:ext cx="4259199" cy="375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7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8E65-09EC-1FBC-DC0A-BE990B92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DE4FE30-676A-3181-33A0-51742D49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134112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Extra Security Measures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83082A-ED11-1544-B96C-B00CD12D4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43213"/>
            <a:ext cx="6273633" cy="4736591"/>
          </a:xfrm>
          <a:prstGeom prst="rect">
            <a:avLst/>
          </a:prstGeom>
          <a:noFill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78915D-8B6A-DB92-BDBE-7DC3B92F8B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010400" y="1838050"/>
            <a:ext cx="4009644" cy="44897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Encrypt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Monitor for suspicious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Protect endpoints with DLP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network security tools like firewalls and VPNs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C479A-061F-2E1E-5182-AD2AC4DAA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1AD50-FF76-AC2B-AFE5-6BE28BE0DF3F}"/>
              </a:ext>
            </a:extLst>
          </p:cNvPr>
          <p:cNvSpPr txBox="1"/>
          <p:nvPr/>
        </p:nvSpPr>
        <p:spPr>
          <a:xfrm>
            <a:off x="292608" y="5879804"/>
            <a:ext cx="2023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(Kulikova, 2024)</a:t>
            </a:r>
          </a:p>
        </p:txBody>
      </p:sp>
    </p:spTree>
    <p:extLst>
      <p:ext uri="{BB962C8B-B14F-4D97-AF65-F5344CB8AC3E}">
        <p14:creationId xmlns:p14="http://schemas.microsoft.com/office/powerpoint/2010/main" val="524293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662DE3-8C8B-C4E8-7181-824EE47F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014DB43-0205-7D55-D19C-9F9A689587B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/>
              <a:t>Berecki</a:t>
            </a:r>
            <a:r>
              <a:rPr lang="en-US" sz="2000" dirty="0"/>
              <a:t>, B. (2022, June 10). </a:t>
            </a:r>
            <a:r>
              <a:rPr lang="en-US" sz="2000" i="1" dirty="0"/>
              <a:t>Best practices for source code security</a:t>
            </a:r>
            <a:r>
              <a:rPr lang="en-US" sz="2000" dirty="0"/>
              <a:t>. Endpoint Protector Blog. </a:t>
            </a:r>
            <a:r>
              <a:rPr lang="en-US" sz="2000" dirty="0">
                <a:hlinkClick r:id="rId2"/>
              </a:rPr>
              <a:t>https://www.endpointprotector.com/blog/your-ultimate-guide-to-source-code-protection/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Kulikova, D. (2024, December 11). </a:t>
            </a:r>
            <a:r>
              <a:rPr lang="en-US" sz="2000" i="1" dirty="0"/>
              <a:t>GitHub security best practices - 15 tips to keep in mind - blog</a:t>
            </a:r>
            <a:r>
              <a:rPr lang="en-US" sz="2000" dirty="0"/>
              <a:t>. Blog | GitProtect.io. </a:t>
            </a:r>
            <a:r>
              <a:rPr lang="en-US" sz="2000" dirty="0">
                <a:hlinkClick r:id="rId3"/>
              </a:rPr>
              <a:t>https://gitprotect.io/blog/github-security-best-practices-15-tips-to-keep-in-mind/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Rose, J. (2025, July 24). </a:t>
            </a:r>
            <a:r>
              <a:rPr lang="en-US" sz="2000" i="1" dirty="0"/>
              <a:t>12 best practices for Secure Code Repositories (2025 guide)</a:t>
            </a:r>
            <a:r>
              <a:rPr lang="en-US" sz="2000" dirty="0"/>
              <a:t>. </a:t>
            </a:r>
            <a:r>
              <a:rPr lang="en-US" sz="2000" dirty="0" err="1"/>
              <a:t>Checkmarx</a:t>
            </a:r>
            <a:r>
              <a:rPr lang="en-US" sz="2000" dirty="0"/>
              <a:t>. </a:t>
            </a:r>
            <a:r>
              <a:rPr lang="en-US" sz="2000" dirty="0">
                <a:hlinkClick r:id="rId4"/>
              </a:rPr>
              <a:t>https://checkmarx.com/supply-chain-security/repository-health-monitoring-part-2-essential-practices-for-secure-repositories/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540CE-6B91-A96C-8101-AB4BD4A0D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2121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{7D9BB680-0082-4B88-B1CB-B9BADCC1DD59}TF1ed9553b-00c4-4092-846a-c8f7f2908f3beecd942f_win32-8e33096c3cfc</Template>
  <TotalTime>66</TotalTime>
  <Words>412</Words>
  <Application>Microsoft Office PowerPoint</Application>
  <PresentationFormat>Widescreen</PresentationFormat>
  <Paragraphs>58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Gill Sans Nova Light</vt:lpstr>
      <vt:lpstr>Sagona Book</vt:lpstr>
      <vt:lpstr>Custom</vt:lpstr>
      <vt:lpstr>Security Controls in Shared Source Code Repositories</vt:lpstr>
      <vt:lpstr>Why Security in Code Repositories Matter</vt:lpstr>
      <vt:lpstr>Create a Source Code Protection Policy</vt:lpstr>
      <vt:lpstr>Control Access to Your Code</vt:lpstr>
      <vt:lpstr>Best Repository Practices</vt:lpstr>
      <vt:lpstr>CI/CD and Automated Security Checks</vt:lpstr>
      <vt:lpstr>Extra Security Measures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Kimberly M Orozco</dc:creator>
  <cp:lastModifiedBy>Kimberly M Orozco</cp:lastModifiedBy>
  <cp:revision>5</cp:revision>
  <dcterms:created xsi:type="dcterms:W3CDTF">2025-11-15T20:42:53Z</dcterms:created>
  <dcterms:modified xsi:type="dcterms:W3CDTF">2025-11-16T18:59:50Z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