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6" r:id="rId2"/>
    <p:sldId id="265" r:id="rId3"/>
    <p:sldId id="272" r:id="rId4"/>
    <p:sldId id="273" r:id="rId5"/>
    <p:sldId id="274" r:id="rId6"/>
    <p:sldId id="275" r:id="rId7"/>
    <p:sldId id="277" r:id="rId8"/>
    <p:sldId id="278" r:id="rId9"/>
    <p:sldId id="27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0" autoAdjust="0"/>
    <p:restoredTop sz="94660"/>
  </p:normalViewPr>
  <p:slideViewPr>
    <p:cSldViewPr>
      <p:cViewPr varScale="1">
        <p:scale>
          <a:sx n="82" d="100"/>
          <a:sy n="82" d="100"/>
        </p:scale>
        <p:origin x="126" y="108"/>
      </p:cViewPr>
      <p:guideLst>
        <p:guide pos="3840"/>
        <p:guide orient="horz" pos="2160"/>
      </p:guideLst>
    </p:cSldViewPr>
  </p:slideViewPr>
  <p:notesTextViewPr>
    <p:cViewPr>
      <p:scale>
        <a:sx n="1" d="1"/>
        <a:sy n="1" d="1"/>
      </p:scale>
      <p:origin x="0" y="0"/>
    </p:cViewPr>
  </p:notesTextViewPr>
  <p:notesViewPr>
    <p:cSldViewPr showGuides="1">
      <p:cViewPr varScale="1">
        <p:scale>
          <a:sx n="63" d="100"/>
          <a:sy n="63" d="100"/>
        </p:scale>
        <p:origin x="283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2B48F5-BACC-47D6-A0F7-82FBF9C6BC85}" type="datetimeFigureOut">
              <a:rPr lang="en-US"/>
              <a:t>11/2/2025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5ACAF8E-318A-4EFE-8633-D9E72ABCE0ED}" type="slidenum">
              <a:rPr/>
              <a:t>‹#›</a:t>
            </a:fld>
            <a:endParaRPr/>
          </a:p>
        </p:txBody>
      </p:sp>
    </p:spTree>
    <p:extLst>
      <p:ext uri="{BB962C8B-B14F-4D97-AF65-F5344CB8AC3E}">
        <p14:creationId xmlns:p14="http://schemas.microsoft.com/office/powerpoint/2010/main" val="240655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B1CD00-5424-4675-AB18-2C419B060449}" type="datetimeFigureOut">
              <a:rPr lang="en-US"/>
              <a:t>11/2/2025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E2CF44-2B13-41B4-A334-1CDF534EEBBF}" type="slidenum">
              <a:rPr/>
              <a:t>‹#›</a:t>
            </a:fld>
            <a:endParaRPr/>
          </a:p>
        </p:txBody>
      </p:sp>
    </p:spTree>
    <p:extLst>
      <p:ext uri="{BB962C8B-B14F-4D97-AF65-F5344CB8AC3E}">
        <p14:creationId xmlns:p14="http://schemas.microsoft.com/office/powerpoint/2010/main" val="445385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userDrawn="1"/>
        </p:nvSpPr>
        <p:spPr bwMode="gray">
          <a:xfrm>
            <a:off x="0" y="2825016"/>
            <a:ext cx="12188952" cy="3180930"/>
          </a:xfrm>
          <a:prstGeom prst="rect">
            <a:avLst/>
          </a:prstGeom>
          <a:solidFill>
            <a:schemeClr val="bg1">
              <a:lumMod val="85000"/>
              <a:lumOff val="1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bwMode="black">
          <a:xfrm>
            <a:off x="0" y="3075709"/>
            <a:ext cx="12188952" cy="2639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bwMode="white">
          <a:xfrm>
            <a:off x="1066800" y="3165763"/>
            <a:ext cx="10058400" cy="1711037"/>
          </a:xfrm>
        </p:spPr>
        <p:txBody>
          <a:bodyPr anchor="b">
            <a:normAutofit/>
          </a:bodyPr>
          <a:lstStyle>
            <a:lvl1pPr algn="l">
              <a:lnSpc>
                <a:spcPct val="80000"/>
              </a:lnSpc>
              <a:defRPr sz="54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bwMode="white">
          <a:xfrm>
            <a:off x="1066800" y="4953000"/>
            <a:ext cx="10058400" cy="685800"/>
          </a:xfrm>
        </p:spPr>
        <p:txBody>
          <a:bodyPr>
            <a:normAutofit/>
          </a:bodyPr>
          <a:lstStyle>
            <a:lvl1pPr marL="0" indent="0" algn="l">
              <a:spcBef>
                <a:spcPts val="0"/>
              </a:spcBef>
              <a:buNone/>
              <a:defRPr sz="200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798862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t>11/2/2025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4000" y="1828800"/>
            <a:ext cx="9144000" cy="2743200"/>
          </a:xfrm>
        </p:spPr>
        <p:txBody>
          <a:bodyPr anchor="b">
            <a:normAutofit/>
          </a:bodyPr>
          <a:lstStyle>
            <a:lvl1pPr>
              <a:defRPr sz="540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1524000" y="4589463"/>
            <a:ext cx="9144000" cy="1506537"/>
          </a:xfrm>
        </p:spPr>
        <p:txBody>
          <a:bodyPr>
            <a:normAutofit/>
          </a:bodyPr>
          <a:lstStyle>
            <a:lvl1pPr marL="0" indent="0">
              <a:spcBef>
                <a:spcPts val="0"/>
              </a:spcBef>
              <a:buNone/>
              <a:defRPr sz="2000">
                <a:solidFill>
                  <a:schemeClr val="accent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506778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825625"/>
            <a:ext cx="4343400" cy="4270375"/>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11/2/2025</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5270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70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7648" y="1828800"/>
            <a:ext cx="4343400" cy="685800"/>
          </a:xfrm>
        </p:spPr>
        <p:txBody>
          <a:bodyPr anchor="ctr">
            <a:normAutofit/>
          </a:bodyPr>
          <a:lstStyle>
            <a:lvl1pPr marL="0" indent="0">
              <a:spcBef>
                <a:spcPts val="0"/>
              </a:spcBef>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7648" y="2514600"/>
            <a:ext cx="4343400" cy="35814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37CC0096-1860-4642-9CD2-0079EA5E7CD1}" type="datetimeFigureOut">
              <a:rPr lang="en-US" smtClean="0"/>
              <a:t>11/2/2025</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37CC0096-1860-4642-9CD2-0079EA5E7CD1}" type="datetimeFigureOut">
              <a:rPr lang="en-US" smtClean="0"/>
              <a:t>11/2/2025</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37CC0096-1860-4642-9CD2-0079EA5E7CD1}" type="datetimeFigureOut">
              <a:rPr lang="en-US" smtClean="0"/>
              <a:t>11/2/2025</a:t>
            </a:fld>
            <a:endParaRPr lang="en-US"/>
          </a:p>
        </p:txBody>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146817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2587" y="1600200"/>
            <a:ext cx="3122613" cy="1828800"/>
          </a:xfrm>
        </p:spPr>
        <p:txBody>
          <a:bodyPr anchor="b">
            <a:normAutofit/>
          </a:bodyPr>
          <a:lstStyle>
            <a:lvl1pPr>
              <a:defRPr sz="3400"/>
            </a:lvl1pPr>
          </a:lstStyle>
          <a:p>
            <a:r>
              <a:rPr lang="en-US"/>
              <a:t>Click to edit Master title style</a:t>
            </a:r>
            <a:endParaRPr lang="en-US" dirty="0"/>
          </a:p>
        </p:txBody>
      </p:sp>
      <p:sp>
        <p:nvSpPr>
          <p:cNvPr id="3" name="Content Placeholder 2"/>
          <p:cNvSpPr>
            <a:spLocks noGrp="1"/>
          </p:cNvSpPr>
          <p:nvPr>
            <p:ph idx="1"/>
          </p:nvPr>
        </p:nvSpPr>
        <p:spPr>
          <a:xfrm>
            <a:off x="760412" y="762000"/>
            <a:ext cx="6400800"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001039" y="3429000"/>
            <a:ext cx="3124161"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11/2/2025</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673741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97952" y="1600200"/>
            <a:ext cx="3127248" cy="1828800"/>
          </a:xfrm>
        </p:spPr>
        <p:txBody>
          <a:bodyPr anchor="b">
            <a:normAutofit/>
          </a:bodyPr>
          <a:lstStyle>
            <a:lvl1pPr>
              <a:defRPr sz="3400"/>
            </a:lvl1pPr>
          </a:lstStyle>
          <a:p>
            <a:r>
              <a:rPr lang="en-US"/>
              <a:t>Click to edit Master title style</a:t>
            </a:r>
          </a:p>
        </p:txBody>
      </p:sp>
      <p:sp>
        <p:nvSpPr>
          <p:cNvPr id="3" name="Picture Placeholder 2"/>
          <p:cNvSpPr>
            <a:spLocks noGrp="1"/>
          </p:cNvSpPr>
          <p:nvPr>
            <p:ph type="pic" idx="1"/>
          </p:nvPr>
        </p:nvSpPr>
        <p:spPr>
          <a:xfrm>
            <a:off x="781251" y="777240"/>
            <a:ext cx="6400800" cy="530352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97952" y="3429000"/>
            <a:ext cx="3127248" cy="1828800"/>
          </a:xfrm>
        </p:spPr>
        <p:txBody>
          <a:bodyPr/>
          <a:lstStyle>
            <a:lvl1pPr marL="0" indent="0">
              <a:spcBef>
                <a:spcPts val="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Rectangle 7" descr="An empty placeholder to add an image. Click on the placeholder and select the image that you wish to add."/>
          <p:cNvSpPr/>
          <p:nvPr userDrawn="1"/>
        </p:nvSpPr>
        <p:spPr bwMode="blackWhite">
          <a:xfrm>
            <a:off x="644091" y="640080"/>
            <a:ext cx="6675120" cy="5577840"/>
          </a:xfrm>
          <a:prstGeom prst="rect">
            <a:avLst/>
          </a:prstGeom>
          <a:solidFill>
            <a:srgbClr val="000000"/>
          </a:solidFill>
          <a:ln w="1016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37CC0096-1860-4642-9CD2-0079EA5E7CD1}" type="datetimeFigureOut">
              <a:rPr lang="en-US" smtClean="0"/>
              <a:t>11/2/2025</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977249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11/2/2025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457199"/>
            <a:ext cx="1943100" cy="56388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0" y="457199"/>
            <a:ext cx="7048500" cy="56388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37CC0096-1860-4642-9CD2-0079EA5E7CD1}" type="datetimeFigureOut">
              <a:rPr lang="en-US" smtClean="0"/>
              <a:t>11/2/2025</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0" y="457200"/>
            <a:ext cx="9144000" cy="11430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4000" y="18288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4000" y="6362700"/>
            <a:ext cx="6881553" cy="257176"/>
          </a:xfrm>
          <a:prstGeom prst="rect">
            <a:avLst/>
          </a:prstGeom>
        </p:spPr>
        <p:txBody>
          <a:bodyPr vert="horz" lIns="91440" tIns="45720" rIns="91440" bIns="45720" rtlCol="0" anchor="ctr"/>
          <a:lstStyle>
            <a:lvl1pPr algn="l">
              <a:defRPr sz="1100">
                <a:solidFill>
                  <a:schemeClr val="tx1">
                    <a:lumMod val="85000"/>
                  </a:schemeClr>
                </a:solidFill>
              </a:defRPr>
            </a:lvl1pPr>
          </a:lstStyle>
          <a:p>
            <a:endParaRPr lang="en-US" dirty="0"/>
          </a:p>
        </p:txBody>
      </p:sp>
      <p:sp>
        <p:nvSpPr>
          <p:cNvPr id="4" name="Date Placeholder 3"/>
          <p:cNvSpPr>
            <a:spLocks noGrp="1"/>
          </p:cNvSpPr>
          <p:nvPr>
            <p:ph type="dt" sz="half" idx="2"/>
          </p:nvPr>
        </p:nvSpPr>
        <p:spPr>
          <a:xfrm>
            <a:off x="8610600" y="6362700"/>
            <a:ext cx="9906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37CC0096-1860-4642-9CD2-0079EA5E7CD1}" type="datetimeFigureOut">
              <a:rPr lang="en-US" smtClean="0"/>
              <a:pPr/>
              <a:t>11/2/2025</a:t>
            </a:fld>
            <a:endParaRPr lang="en-US"/>
          </a:p>
        </p:txBody>
      </p:sp>
      <p:sp>
        <p:nvSpPr>
          <p:cNvPr id="6" name="Slide Number Placeholder 5"/>
          <p:cNvSpPr>
            <a:spLocks noGrp="1"/>
          </p:cNvSpPr>
          <p:nvPr>
            <p:ph type="sldNum" sz="quarter" idx="4"/>
          </p:nvPr>
        </p:nvSpPr>
        <p:spPr>
          <a:xfrm>
            <a:off x="9829800" y="6362700"/>
            <a:ext cx="838200" cy="257176"/>
          </a:xfrm>
          <a:prstGeom prst="rect">
            <a:avLst/>
          </a:prstGeom>
        </p:spPr>
        <p:txBody>
          <a:bodyPr vert="horz" lIns="91440" tIns="45720" rIns="91440" bIns="45720" rtlCol="0" anchor="ctr"/>
          <a:lstStyle>
            <a:lvl1pPr algn="r">
              <a:defRPr sz="1100">
                <a:solidFill>
                  <a:schemeClr val="tx1">
                    <a:lumMod val="85000"/>
                  </a:schemeClr>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943259863"/>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buClr>
        <a:buFont typeface="Arial" pitchFamily="34" charset="0"/>
        <a:buChar char="•"/>
        <a:defRPr sz="2000" kern="1200">
          <a:solidFill>
            <a:schemeClr val="tx1">
              <a:lumMod val="85000"/>
            </a:schemeClr>
          </a:solidFill>
          <a:latin typeface="+mn-lt"/>
          <a:ea typeface="+mn-ea"/>
          <a:cs typeface="+mn-cs"/>
        </a:defRPr>
      </a:lvl1pPr>
      <a:lvl2pPr marL="594360" indent="-228600" algn="l" defTabSz="914400" rtl="0" eaLnBrk="1" latinLnBrk="0" hangingPunct="1">
        <a:lnSpc>
          <a:spcPct val="90000"/>
        </a:lnSpc>
        <a:spcBef>
          <a:spcPts val="1000"/>
        </a:spcBef>
        <a:buClr>
          <a:schemeClr val="accent1"/>
        </a:buClr>
        <a:buFont typeface="Arial" pitchFamily="34" charset="0"/>
        <a:buChar char="•"/>
        <a:defRPr sz="1800" kern="1200">
          <a:solidFill>
            <a:schemeClr val="tx1">
              <a:lumMod val="85000"/>
            </a:schemeClr>
          </a:solidFill>
          <a:latin typeface="+mn-lt"/>
          <a:ea typeface="+mn-ea"/>
          <a:cs typeface="+mn-cs"/>
        </a:defRPr>
      </a:lvl2pPr>
      <a:lvl3pPr marL="914400" indent="-228600" algn="l" defTabSz="914400" rtl="0" eaLnBrk="1" latinLnBrk="0" hangingPunct="1">
        <a:lnSpc>
          <a:spcPct val="90000"/>
        </a:lnSpc>
        <a:spcBef>
          <a:spcPts val="800"/>
        </a:spcBef>
        <a:buClr>
          <a:schemeClr val="accent1"/>
        </a:buClr>
        <a:buFont typeface="Arial" pitchFamily="34" charset="0"/>
        <a:buChar char="•"/>
        <a:defRPr sz="1600" kern="1200">
          <a:solidFill>
            <a:schemeClr val="tx1">
              <a:lumMod val="85000"/>
            </a:schemeClr>
          </a:solidFill>
          <a:latin typeface="+mn-lt"/>
          <a:ea typeface="+mn-ea"/>
          <a:cs typeface="+mn-cs"/>
        </a:defRPr>
      </a:lvl3pPr>
      <a:lvl4pPr marL="12344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4pPr>
      <a:lvl5pPr marL="150876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lumMod val="85000"/>
            </a:schemeClr>
          </a:solidFill>
          <a:latin typeface="+mn-lt"/>
          <a:ea typeface="+mn-ea"/>
          <a:cs typeface="+mn-cs"/>
        </a:defRPr>
      </a:lvl5pPr>
      <a:lvl6pPr marL="178308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6pPr>
      <a:lvl7pPr marL="205740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7pPr>
      <a:lvl8pPr marL="233172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8pPr>
      <a:lvl9pPr marL="2606040" indent="-228600" algn="l" defTabSz="914400" rtl="0" eaLnBrk="1" latinLnBrk="0" hangingPunct="1">
        <a:lnSpc>
          <a:spcPct val="90000"/>
        </a:lnSpc>
        <a:spcBef>
          <a:spcPts val="800"/>
        </a:spcBef>
        <a:buClr>
          <a:schemeClr val="accent1"/>
        </a:buClr>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attractgroup.com/blog/overcoming-common-devops-challenges-in-implementing-devops-solutions-for-success/" TargetMode="External"/><Relationship Id="rId2" Type="http://schemas.openxmlformats.org/officeDocument/2006/relationships/hyperlink" Target="https://humanisticsystems.com/2023/10/18/why-is-it-just-so-difficult-barriers-to-just-culture-in-the-real-world/"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 y="2895600"/>
            <a:ext cx="11963400" cy="1711037"/>
          </a:xfrm>
        </p:spPr>
        <p:txBody>
          <a:bodyPr/>
          <a:lstStyle/>
          <a:p>
            <a:r>
              <a:rPr lang="en-US" dirty="0"/>
              <a:t>Barriers to Implementing a Just Culture</a:t>
            </a:r>
            <a:endParaRPr dirty="0"/>
          </a:p>
        </p:txBody>
      </p:sp>
      <p:sp>
        <p:nvSpPr>
          <p:cNvPr id="3" name="Subtitle 2"/>
          <p:cNvSpPr>
            <a:spLocks noGrp="1"/>
          </p:cNvSpPr>
          <p:nvPr>
            <p:ph type="subTitle" idx="1"/>
          </p:nvPr>
        </p:nvSpPr>
        <p:spPr>
          <a:xfrm>
            <a:off x="228600" y="4571468"/>
            <a:ext cx="10058400" cy="1447800"/>
          </a:xfrm>
        </p:spPr>
        <p:txBody>
          <a:bodyPr/>
          <a:lstStyle/>
          <a:p>
            <a:r>
              <a:rPr lang="en-US" dirty="0"/>
              <a:t>Kimberly Orozco</a:t>
            </a:r>
          </a:p>
          <a:p>
            <a:r>
              <a:rPr lang="en-US" dirty="0"/>
              <a:t>November 1, 2025</a:t>
            </a:r>
          </a:p>
          <a:p>
            <a:r>
              <a:rPr lang="en-US" dirty="0"/>
              <a:t>CSD380-T301 DevOps</a:t>
            </a:r>
            <a:endParaRPr dirty="0"/>
          </a:p>
        </p:txBody>
      </p:sp>
    </p:spTree>
    <p:extLst>
      <p:ext uri="{BB962C8B-B14F-4D97-AF65-F5344CB8AC3E}">
        <p14:creationId xmlns:p14="http://schemas.microsoft.com/office/powerpoint/2010/main" val="242453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4000" y="457200"/>
            <a:ext cx="9144000" cy="1143000"/>
          </a:xfrm>
        </p:spPr>
        <p:txBody>
          <a:bodyPr vert="horz" lIns="91440" tIns="45720" rIns="91440" bIns="45720" rtlCol="0" anchor="b">
            <a:normAutofit/>
          </a:bodyPr>
          <a:lstStyle/>
          <a:p>
            <a:r>
              <a:rPr lang="en-US" kern="1200" dirty="0">
                <a:latin typeface="+mj-lt"/>
                <a:ea typeface="+mj-ea"/>
                <a:cs typeface="+mj-cs"/>
              </a:rPr>
              <a:t>Introduction </a:t>
            </a:r>
          </a:p>
        </p:txBody>
      </p:sp>
      <p:sp>
        <p:nvSpPr>
          <p:cNvPr id="19" name="Text Placeholder 2">
            <a:extLst>
              <a:ext uri="{FF2B5EF4-FFF2-40B4-BE49-F238E27FC236}">
                <a16:creationId xmlns:a16="http://schemas.microsoft.com/office/drawing/2014/main" id="{FF34942E-BDD6-F0DD-11CA-444A136CA752}"/>
              </a:ext>
            </a:extLst>
          </p:cNvPr>
          <p:cNvSpPr>
            <a:spLocks noGrp="1"/>
          </p:cNvSpPr>
          <p:nvPr>
            <p:ph type="body" idx="1"/>
          </p:nvPr>
        </p:nvSpPr>
        <p:spPr>
          <a:xfrm>
            <a:off x="1462337" y="1257300"/>
            <a:ext cx="5330952" cy="685800"/>
          </a:xfrm>
        </p:spPr>
        <p:txBody>
          <a:bodyPr>
            <a:normAutofit/>
          </a:bodyPr>
          <a:lstStyle/>
          <a:p>
            <a:r>
              <a:rPr lang="en-US" dirty="0">
                <a:solidFill>
                  <a:schemeClr val="accent1"/>
                </a:solidFill>
              </a:rPr>
              <a:t>________________________________</a:t>
            </a:r>
          </a:p>
          <a:p>
            <a:endParaRPr lang="en-US" dirty="0"/>
          </a:p>
        </p:txBody>
      </p:sp>
      <p:pic>
        <p:nvPicPr>
          <p:cNvPr id="4" name="Picture 3" descr="A group of people sitting at a table&#10;&#10;AI-generated content may be incorrect.">
            <a:extLst>
              <a:ext uri="{FF2B5EF4-FFF2-40B4-BE49-F238E27FC236}">
                <a16:creationId xmlns:a16="http://schemas.microsoft.com/office/drawing/2014/main" id="{C7EB9E61-6480-B2C1-2063-3E095FC75294}"/>
              </a:ext>
            </a:extLst>
          </p:cNvPr>
          <p:cNvPicPr>
            <a:picLocks noChangeAspect="1"/>
          </p:cNvPicPr>
          <p:nvPr/>
        </p:nvPicPr>
        <p:blipFill>
          <a:blip r:embed="rId2">
            <a:extLst>
              <a:ext uri="{28A0092B-C50C-407E-A947-70E740481C1C}">
                <a14:useLocalDpi xmlns:a14="http://schemas.microsoft.com/office/drawing/2010/main" val="0"/>
              </a:ext>
            </a:extLst>
          </a:blip>
          <a:srcRect l="20608" r="16328" b="-2"/>
          <a:stretch>
            <a:fillRect/>
          </a:stretch>
        </p:blipFill>
        <p:spPr>
          <a:xfrm>
            <a:off x="1227628" y="1799492"/>
            <a:ext cx="4990288" cy="4114800"/>
          </a:xfrm>
          <a:prstGeom prst="rect">
            <a:avLst/>
          </a:prstGeom>
          <a:noFill/>
        </p:spPr>
      </p:pic>
      <p:sp>
        <p:nvSpPr>
          <p:cNvPr id="2" name="Title 12">
            <a:extLst>
              <a:ext uri="{FF2B5EF4-FFF2-40B4-BE49-F238E27FC236}">
                <a16:creationId xmlns:a16="http://schemas.microsoft.com/office/drawing/2014/main" id="{0D443D7B-3E36-5195-A3EC-0A0594DCD1E5}"/>
              </a:ext>
            </a:extLst>
          </p:cNvPr>
          <p:cNvSpPr txBox="1">
            <a:spLocks/>
          </p:cNvSpPr>
          <p:nvPr/>
        </p:nvSpPr>
        <p:spPr>
          <a:xfrm>
            <a:off x="6327648" y="1828800"/>
            <a:ext cx="4343400" cy="6858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400" kern="1200">
                <a:solidFill>
                  <a:schemeClr val="accent1"/>
                </a:solidFill>
                <a:latin typeface="+mj-lt"/>
                <a:ea typeface="+mj-ea"/>
                <a:cs typeface="+mj-cs"/>
              </a:defRPr>
            </a:lvl1pPr>
          </a:lstStyle>
          <a:p>
            <a:pPr>
              <a:spcBef>
                <a:spcPts val="0"/>
              </a:spcBef>
              <a:spcAft>
                <a:spcPts val="600"/>
              </a:spcAft>
              <a:buClr>
                <a:schemeClr val="accent1"/>
              </a:buClr>
            </a:pPr>
            <a:r>
              <a:rPr lang="en-US" sz="2000" b="0" kern="1200" dirty="0">
                <a:solidFill>
                  <a:schemeClr val="tx1"/>
                </a:solidFill>
                <a:latin typeface="+mn-lt"/>
                <a:ea typeface="+mn-ea"/>
                <a:cs typeface="+mn-cs"/>
              </a:rPr>
              <a:t>________________________________</a:t>
            </a:r>
          </a:p>
        </p:txBody>
      </p:sp>
      <p:sp>
        <p:nvSpPr>
          <p:cNvPr id="14" name="Content Placeholder 13"/>
          <p:cNvSpPr>
            <a:spLocks noGrp="1"/>
          </p:cNvSpPr>
          <p:nvPr>
            <p:ph sz="quarter" idx="4"/>
          </p:nvPr>
        </p:nvSpPr>
        <p:spPr>
          <a:xfrm>
            <a:off x="6327648" y="2409091"/>
            <a:ext cx="4343400" cy="3581401"/>
          </a:xfrm>
        </p:spPr>
        <p:txBody>
          <a:bodyPr vert="horz" lIns="91440" tIns="45720" rIns="91440" bIns="45720" rtlCol="0">
            <a:normAutofit/>
          </a:bodyPr>
          <a:lstStyle/>
          <a:p>
            <a:pPr marL="0"/>
            <a:r>
              <a:rPr lang="en-US" dirty="0"/>
              <a:t>DevOps is centered around teams working together and is built on the foundation of proper communication.</a:t>
            </a:r>
          </a:p>
          <a:p>
            <a:pPr marL="0"/>
            <a:r>
              <a:rPr lang="en-US" dirty="0"/>
              <a:t>Just Culture is about being fair to people and not punishing them for honest mistakes. </a:t>
            </a:r>
          </a:p>
          <a:p>
            <a:pPr marL="0"/>
            <a:r>
              <a:rPr lang="en-US" dirty="0"/>
              <a:t>But putting both of these into practice is not easy. There are many challenges that make it hard for companies to do it the right way.</a:t>
            </a:r>
          </a:p>
        </p:txBody>
      </p:sp>
    </p:spTree>
    <p:extLst>
      <p:ext uri="{BB962C8B-B14F-4D97-AF65-F5344CB8AC3E}">
        <p14:creationId xmlns:p14="http://schemas.microsoft.com/office/powerpoint/2010/main" val="3042826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3DEBF-0783-E3A0-D1C3-CC31680F7E9E}"/>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61BADA6E-EB54-AA0B-B8C9-DE8BAF381149}"/>
              </a:ext>
            </a:extLst>
          </p:cNvPr>
          <p:cNvSpPr>
            <a:spLocks noGrp="1"/>
          </p:cNvSpPr>
          <p:nvPr>
            <p:ph type="title"/>
          </p:nvPr>
        </p:nvSpPr>
        <p:spPr>
          <a:xfrm>
            <a:off x="457200" y="533400"/>
            <a:ext cx="9144000" cy="1143000"/>
          </a:xfrm>
        </p:spPr>
        <p:txBody>
          <a:bodyPr vert="horz" lIns="91440" tIns="45720" rIns="91440" bIns="45720" rtlCol="0" anchor="b">
            <a:normAutofit/>
          </a:bodyPr>
          <a:lstStyle/>
          <a:p>
            <a:r>
              <a:rPr lang="en-US" kern="1200" dirty="0"/>
              <a:t>Conceptual Barriers </a:t>
            </a:r>
          </a:p>
        </p:txBody>
      </p:sp>
      <p:sp>
        <p:nvSpPr>
          <p:cNvPr id="14" name="Content Placeholder 13">
            <a:extLst>
              <a:ext uri="{FF2B5EF4-FFF2-40B4-BE49-F238E27FC236}">
                <a16:creationId xmlns:a16="http://schemas.microsoft.com/office/drawing/2014/main" id="{3B405CCA-34F5-99E8-5127-97CC06AD1EAB}"/>
              </a:ext>
            </a:extLst>
          </p:cNvPr>
          <p:cNvSpPr>
            <a:spLocks noGrp="1"/>
          </p:cNvSpPr>
          <p:nvPr>
            <p:ph sz="half" idx="1"/>
          </p:nvPr>
        </p:nvSpPr>
        <p:spPr>
          <a:xfrm>
            <a:off x="468922" y="1857619"/>
            <a:ext cx="5550877" cy="4270375"/>
          </a:xfrm>
        </p:spPr>
        <p:txBody>
          <a:bodyPr vert="horz" lIns="91440" tIns="45720" rIns="91440" bIns="45720" rtlCol="0">
            <a:normAutofit/>
          </a:bodyPr>
          <a:lstStyle/>
          <a:p>
            <a:pPr marL="0" indent="0">
              <a:buNone/>
            </a:pPr>
            <a:r>
              <a:rPr lang="en-US" dirty="0"/>
              <a:t>You can’t create a culture by making rules. Culture grows slowly over time. Just Culture is not really a rule it’s more about starting conversations about fairness and safety.</a:t>
            </a:r>
          </a:p>
          <a:p>
            <a:pPr marL="0" indent="0">
              <a:buNone/>
            </a:pPr>
            <a:r>
              <a:rPr lang="en-US" b="1" dirty="0"/>
              <a:t>Challenges:</a:t>
            </a:r>
          </a:p>
          <a:p>
            <a:r>
              <a:rPr lang="en-US" dirty="0"/>
              <a:t>Changing shared beliefs and habits takes a long time.</a:t>
            </a:r>
          </a:p>
          <a:p>
            <a:r>
              <a:rPr lang="en-US" dirty="0"/>
              <a:t>Different teams think about fairness in different ways.</a:t>
            </a:r>
          </a:p>
        </p:txBody>
      </p:sp>
      <p:pic>
        <p:nvPicPr>
          <p:cNvPr id="9" name="Picture 8" descr="A group of people standing on a road&#10;&#10;AI-generated content may be incorrect.">
            <a:extLst>
              <a:ext uri="{FF2B5EF4-FFF2-40B4-BE49-F238E27FC236}">
                <a16:creationId xmlns:a16="http://schemas.microsoft.com/office/drawing/2014/main" id="{58CFDCF8-277E-EA28-E88E-E2E4A661D2ED}"/>
              </a:ext>
            </a:extLst>
          </p:cNvPr>
          <p:cNvPicPr>
            <a:picLocks noChangeAspect="1"/>
          </p:cNvPicPr>
          <p:nvPr/>
        </p:nvPicPr>
        <p:blipFill>
          <a:blip r:embed="rId2">
            <a:extLst>
              <a:ext uri="{28A0092B-C50C-407E-A947-70E740481C1C}">
                <a14:useLocalDpi xmlns:a14="http://schemas.microsoft.com/office/drawing/2010/main" val="0"/>
              </a:ext>
            </a:extLst>
          </a:blip>
          <a:srcRect l="15997" r="16111" b="1"/>
          <a:stretch>
            <a:fillRect/>
          </a:stretch>
        </p:blipFill>
        <p:spPr>
          <a:xfrm>
            <a:off x="6324600" y="1825625"/>
            <a:ext cx="5029200" cy="4270375"/>
          </a:xfrm>
          <a:prstGeom prst="rect">
            <a:avLst/>
          </a:prstGeom>
          <a:noFill/>
        </p:spPr>
      </p:pic>
    </p:spTree>
    <p:extLst>
      <p:ext uri="{BB962C8B-B14F-4D97-AF65-F5344CB8AC3E}">
        <p14:creationId xmlns:p14="http://schemas.microsoft.com/office/powerpoint/2010/main" val="3464662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E2957-44E1-23EE-F5B4-C6CEF1655F8D}"/>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3158A86E-3BCC-4E92-A59A-55DF14D60516}"/>
              </a:ext>
            </a:extLst>
          </p:cNvPr>
          <p:cNvSpPr>
            <a:spLocks noGrp="1"/>
          </p:cNvSpPr>
          <p:nvPr>
            <p:ph type="title"/>
          </p:nvPr>
        </p:nvSpPr>
        <p:spPr>
          <a:xfrm>
            <a:off x="1524000" y="457200"/>
            <a:ext cx="9144000" cy="1143000"/>
          </a:xfrm>
        </p:spPr>
        <p:txBody>
          <a:bodyPr vert="horz" lIns="91440" tIns="45720" rIns="91440" bIns="45720" rtlCol="0" anchor="b">
            <a:normAutofit/>
          </a:bodyPr>
          <a:lstStyle/>
          <a:p>
            <a:r>
              <a:rPr lang="en-US" kern="1200" dirty="0"/>
              <a:t>Personal and Social Barriers</a:t>
            </a:r>
          </a:p>
        </p:txBody>
      </p:sp>
      <p:pic>
        <p:nvPicPr>
          <p:cNvPr id="3" name="Picture 2" descr="A couple of men talking to each other&#10;&#10;AI-generated content may be incorrect.">
            <a:extLst>
              <a:ext uri="{FF2B5EF4-FFF2-40B4-BE49-F238E27FC236}">
                <a16:creationId xmlns:a16="http://schemas.microsoft.com/office/drawing/2014/main" id="{346D314C-7B9B-A5F3-2443-FE5C0D83D99D}"/>
              </a:ext>
            </a:extLst>
          </p:cNvPr>
          <p:cNvPicPr>
            <a:picLocks noChangeAspect="1"/>
          </p:cNvPicPr>
          <p:nvPr/>
        </p:nvPicPr>
        <p:blipFill>
          <a:blip r:embed="rId2">
            <a:extLst>
              <a:ext uri="{28A0092B-C50C-407E-A947-70E740481C1C}">
                <a14:useLocalDpi xmlns:a14="http://schemas.microsoft.com/office/drawing/2010/main" val="0"/>
              </a:ext>
            </a:extLst>
          </a:blip>
          <a:srcRect l="26554" r="23101" b="2"/>
          <a:stretch>
            <a:fillRect/>
          </a:stretch>
        </p:blipFill>
        <p:spPr>
          <a:xfrm>
            <a:off x="1524000" y="1825625"/>
            <a:ext cx="4343400" cy="4270375"/>
          </a:xfrm>
          <a:prstGeom prst="rect">
            <a:avLst/>
          </a:prstGeom>
          <a:noFill/>
        </p:spPr>
      </p:pic>
      <p:sp>
        <p:nvSpPr>
          <p:cNvPr id="14" name="Content Placeholder 13">
            <a:extLst>
              <a:ext uri="{FF2B5EF4-FFF2-40B4-BE49-F238E27FC236}">
                <a16:creationId xmlns:a16="http://schemas.microsoft.com/office/drawing/2014/main" id="{504637B5-E872-6FFE-3A9A-DD5C288EF419}"/>
              </a:ext>
            </a:extLst>
          </p:cNvPr>
          <p:cNvSpPr>
            <a:spLocks noGrp="1"/>
          </p:cNvSpPr>
          <p:nvPr>
            <p:ph sz="half" idx="2"/>
          </p:nvPr>
        </p:nvSpPr>
        <p:spPr>
          <a:xfrm>
            <a:off x="6324600" y="1825625"/>
            <a:ext cx="4343400" cy="4270375"/>
          </a:xfrm>
        </p:spPr>
        <p:txBody>
          <a:bodyPr vert="horz" lIns="91440" tIns="45720" rIns="91440" bIns="45720" rtlCol="0">
            <a:normAutofit/>
          </a:bodyPr>
          <a:lstStyle/>
          <a:p>
            <a:r>
              <a:rPr lang="en-US" dirty="0"/>
              <a:t>People judge mistakes differently depending on what happens and who is affected.</a:t>
            </a:r>
          </a:p>
          <a:p>
            <a:r>
              <a:rPr lang="en-US" dirty="0"/>
              <a:t>Trust is fragile and one bad manager can ruin progress.</a:t>
            </a:r>
          </a:p>
          <a:p>
            <a:r>
              <a:rPr lang="en-US" dirty="0"/>
              <a:t>Some people naturally think that any mistake should be punished.</a:t>
            </a:r>
          </a:p>
          <a:p>
            <a:r>
              <a:rPr lang="en-US" dirty="0"/>
              <a:t>People’s past experiences affect how they react to mistakes.</a:t>
            </a:r>
          </a:p>
        </p:txBody>
      </p:sp>
    </p:spTree>
    <p:extLst>
      <p:ext uri="{BB962C8B-B14F-4D97-AF65-F5344CB8AC3E}">
        <p14:creationId xmlns:p14="http://schemas.microsoft.com/office/powerpoint/2010/main" val="855026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F0A5E-8159-27D8-5DDE-B3103DDCC34A}"/>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8C78CBD2-8882-572D-6FAB-336735614857}"/>
              </a:ext>
            </a:extLst>
          </p:cNvPr>
          <p:cNvSpPr>
            <a:spLocks noGrp="1"/>
          </p:cNvSpPr>
          <p:nvPr>
            <p:ph type="title"/>
          </p:nvPr>
        </p:nvSpPr>
        <p:spPr>
          <a:xfrm>
            <a:off x="368095" y="457200"/>
            <a:ext cx="9144000" cy="1143000"/>
          </a:xfrm>
        </p:spPr>
        <p:txBody>
          <a:bodyPr vert="horz" lIns="91440" tIns="45720" rIns="91440" bIns="45720" rtlCol="0" anchor="b">
            <a:normAutofit/>
          </a:bodyPr>
          <a:lstStyle/>
          <a:p>
            <a:r>
              <a:rPr lang="en-US" kern="1200" dirty="0"/>
              <a:t>Professional and Organizational Barriers</a:t>
            </a:r>
          </a:p>
        </p:txBody>
      </p:sp>
      <p:pic>
        <p:nvPicPr>
          <p:cNvPr id="4" name="Picture 3" descr="A group of people standing next to a wall&#10;&#10;AI-generated content may be incorrect.">
            <a:extLst>
              <a:ext uri="{FF2B5EF4-FFF2-40B4-BE49-F238E27FC236}">
                <a16:creationId xmlns:a16="http://schemas.microsoft.com/office/drawing/2014/main" id="{5A98EDC2-4800-9D51-4103-0693803B07AA}"/>
              </a:ext>
            </a:extLst>
          </p:cNvPr>
          <p:cNvPicPr>
            <a:picLocks noChangeAspect="1"/>
          </p:cNvPicPr>
          <p:nvPr/>
        </p:nvPicPr>
        <p:blipFill>
          <a:blip r:embed="rId2">
            <a:extLst>
              <a:ext uri="{28A0092B-C50C-407E-A947-70E740481C1C}">
                <a14:useLocalDpi xmlns:a14="http://schemas.microsoft.com/office/drawing/2010/main" val="0"/>
              </a:ext>
            </a:extLst>
          </a:blip>
          <a:srcRect t="16561"/>
          <a:stretch>
            <a:fillRect/>
          </a:stretch>
        </p:blipFill>
        <p:spPr>
          <a:xfrm>
            <a:off x="368095" y="1981200"/>
            <a:ext cx="5727905" cy="3657600"/>
          </a:xfrm>
          <a:prstGeom prst="rect">
            <a:avLst/>
          </a:prstGeom>
          <a:noFill/>
        </p:spPr>
      </p:pic>
      <p:sp>
        <p:nvSpPr>
          <p:cNvPr id="14" name="Content Placeholder 13">
            <a:extLst>
              <a:ext uri="{FF2B5EF4-FFF2-40B4-BE49-F238E27FC236}">
                <a16:creationId xmlns:a16="http://schemas.microsoft.com/office/drawing/2014/main" id="{206D0446-03B8-8075-E252-E0B8572A151B}"/>
              </a:ext>
            </a:extLst>
          </p:cNvPr>
          <p:cNvSpPr>
            <a:spLocks noGrp="1"/>
          </p:cNvSpPr>
          <p:nvPr>
            <p:ph sz="half" idx="2"/>
          </p:nvPr>
        </p:nvSpPr>
        <p:spPr>
          <a:xfrm>
            <a:off x="6324600" y="1825625"/>
            <a:ext cx="4343400" cy="4270375"/>
          </a:xfrm>
        </p:spPr>
        <p:txBody>
          <a:bodyPr vert="horz" lIns="91440" tIns="45720" rIns="91440" bIns="45720" rtlCol="0">
            <a:normAutofit/>
          </a:bodyPr>
          <a:lstStyle/>
          <a:p>
            <a:pPr marL="0" indent="0">
              <a:buNone/>
            </a:pPr>
            <a:r>
              <a:rPr lang="en-US" sz="1900"/>
              <a:t>Different jobs see mistakes in different ways! Engineers, managers, and </a:t>
            </a:r>
            <a:r>
              <a:rPr lang="en-US" sz="1900" err="1"/>
              <a:t>nother</a:t>
            </a:r>
            <a:r>
              <a:rPr lang="en-US" sz="1900"/>
              <a:t> professionals all have their own different ideas of what is acceptable. This can affect the overall work environment for those around them. </a:t>
            </a:r>
          </a:p>
          <a:p>
            <a:pPr marL="0" indent="0">
              <a:buNone/>
            </a:pPr>
            <a:r>
              <a:rPr lang="en-US" sz="1900" b="1"/>
              <a:t>Other problems:</a:t>
            </a:r>
            <a:endParaRPr lang="en-US" sz="1900"/>
          </a:p>
          <a:p>
            <a:r>
              <a:rPr lang="en-US" sz="1900"/>
              <a:t>People worry about what their coworkers or outsiders will think.</a:t>
            </a:r>
          </a:p>
          <a:p>
            <a:r>
              <a:rPr lang="en-US" sz="1900"/>
              <a:t>Companies sometimes give examples of bad behavior that stick in people’s minds.</a:t>
            </a:r>
          </a:p>
        </p:txBody>
      </p:sp>
    </p:spTree>
    <p:extLst>
      <p:ext uri="{BB962C8B-B14F-4D97-AF65-F5344CB8AC3E}">
        <p14:creationId xmlns:p14="http://schemas.microsoft.com/office/powerpoint/2010/main" val="1663496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D0F42-3208-0B4A-02C2-42A987431545}"/>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E2E47D33-1B14-E557-B4A7-5A879468D6F0}"/>
              </a:ext>
            </a:extLst>
          </p:cNvPr>
          <p:cNvSpPr>
            <a:spLocks noGrp="1"/>
          </p:cNvSpPr>
          <p:nvPr>
            <p:ph type="title"/>
          </p:nvPr>
        </p:nvSpPr>
        <p:spPr>
          <a:xfrm>
            <a:off x="7543800" y="685800"/>
            <a:ext cx="2895600" cy="1828800"/>
          </a:xfrm>
        </p:spPr>
        <p:txBody>
          <a:bodyPr vert="horz" lIns="91440" tIns="45720" rIns="91440" bIns="45720" rtlCol="0" anchor="b">
            <a:normAutofit/>
          </a:bodyPr>
          <a:lstStyle/>
          <a:p>
            <a:r>
              <a:rPr lang="en-US" kern="1200" dirty="0"/>
              <a:t>Legal and Regulatory Barriers</a:t>
            </a:r>
          </a:p>
        </p:txBody>
      </p:sp>
      <p:pic>
        <p:nvPicPr>
          <p:cNvPr id="3" name="Picture 2" descr="A blue background with a person in black pants and a sign&#10;&#10;AI-generated content may be incorrect.">
            <a:extLst>
              <a:ext uri="{FF2B5EF4-FFF2-40B4-BE49-F238E27FC236}">
                <a16:creationId xmlns:a16="http://schemas.microsoft.com/office/drawing/2014/main" id="{96174E98-86CC-D6FD-AA04-74E83F7EB2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251" y="1676781"/>
            <a:ext cx="6400800" cy="3504437"/>
          </a:xfrm>
          <a:prstGeom prst="rect">
            <a:avLst/>
          </a:prstGeom>
          <a:noFill/>
        </p:spPr>
      </p:pic>
      <p:sp>
        <p:nvSpPr>
          <p:cNvPr id="14" name="Content Placeholder 13">
            <a:extLst>
              <a:ext uri="{FF2B5EF4-FFF2-40B4-BE49-F238E27FC236}">
                <a16:creationId xmlns:a16="http://schemas.microsoft.com/office/drawing/2014/main" id="{1AA38BED-893A-A5B0-1ED7-C924E03EDBAA}"/>
              </a:ext>
            </a:extLst>
          </p:cNvPr>
          <p:cNvSpPr>
            <a:spLocks noGrp="1"/>
          </p:cNvSpPr>
          <p:nvPr>
            <p:ph type="body" sz="half" idx="2"/>
          </p:nvPr>
        </p:nvSpPr>
        <p:spPr>
          <a:xfrm>
            <a:off x="7543800" y="2743200"/>
            <a:ext cx="4419600" cy="2667000"/>
          </a:xfrm>
        </p:spPr>
        <p:txBody>
          <a:bodyPr vert="horz" lIns="91440" tIns="45720" rIns="91440" bIns="45720" rtlCol="0">
            <a:normAutofit/>
          </a:bodyPr>
          <a:lstStyle/>
          <a:p>
            <a:pPr marL="0" indent="0">
              <a:spcAft>
                <a:spcPts val="600"/>
              </a:spcAft>
              <a:buNone/>
            </a:pPr>
            <a:r>
              <a:rPr lang="en-US" sz="1800" dirty="0"/>
              <a:t>Laws and rules sometimes force companies to punish mistakes, even if they are honest. Words like “gross negligence” are confusing and open to interpretation (Shorrock, 2023). This makes it hard to fully practice Just Culture because fairness can conflict with legal requirements.</a:t>
            </a:r>
          </a:p>
          <a:p>
            <a:pPr marL="0" indent="0">
              <a:spcAft>
                <a:spcPts val="600"/>
              </a:spcAft>
              <a:buNone/>
            </a:pPr>
            <a:endParaRPr lang="en-US" sz="1500" dirty="0"/>
          </a:p>
        </p:txBody>
      </p:sp>
    </p:spTree>
    <p:extLst>
      <p:ext uri="{BB962C8B-B14F-4D97-AF65-F5344CB8AC3E}">
        <p14:creationId xmlns:p14="http://schemas.microsoft.com/office/powerpoint/2010/main" val="2683609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FC825-CC57-FC3E-DB0C-236361B09C99}"/>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83B6D2B9-D7FB-69BA-DF45-0190A1798955}"/>
              </a:ext>
            </a:extLst>
          </p:cNvPr>
          <p:cNvSpPr>
            <a:spLocks noGrp="1"/>
          </p:cNvSpPr>
          <p:nvPr>
            <p:ph type="title"/>
          </p:nvPr>
        </p:nvSpPr>
        <p:spPr>
          <a:xfrm>
            <a:off x="363415" y="381000"/>
            <a:ext cx="9144000" cy="1143000"/>
          </a:xfrm>
        </p:spPr>
        <p:txBody>
          <a:bodyPr vert="horz" lIns="91440" tIns="45720" rIns="91440" bIns="45720" rtlCol="0" anchor="b">
            <a:normAutofit/>
          </a:bodyPr>
          <a:lstStyle/>
          <a:p>
            <a:r>
              <a:rPr lang="en-US" kern="1200" dirty="0"/>
              <a:t>DevOps Challenges</a:t>
            </a:r>
          </a:p>
        </p:txBody>
      </p:sp>
      <p:sp>
        <p:nvSpPr>
          <p:cNvPr id="14" name="Content Placeholder 13">
            <a:extLst>
              <a:ext uri="{FF2B5EF4-FFF2-40B4-BE49-F238E27FC236}">
                <a16:creationId xmlns:a16="http://schemas.microsoft.com/office/drawing/2014/main" id="{BB390BC3-E022-0E49-CC5A-E41FBAA558A8}"/>
              </a:ext>
            </a:extLst>
          </p:cNvPr>
          <p:cNvSpPr>
            <a:spLocks noGrp="1"/>
          </p:cNvSpPr>
          <p:nvPr>
            <p:ph sz="half" idx="1"/>
          </p:nvPr>
        </p:nvSpPr>
        <p:spPr>
          <a:xfrm>
            <a:off x="381000" y="1524000"/>
            <a:ext cx="4343400" cy="4270375"/>
          </a:xfrm>
        </p:spPr>
        <p:txBody>
          <a:bodyPr vert="horz" lIns="91440" tIns="45720" rIns="91440" bIns="45720" rtlCol="0">
            <a:normAutofit/>
          </a:bodyPr>
          <a:lstStyle/>
          <a:p>
            <a:pPr marL="0" indent="0">
              <a:buNone/>
            </a:pPr>
            <a:r>
              <a:rPr lang="en-US" dirty="0"/>
              <a:t>Even adopting DevOps has it’s own challenges. Teams are used to old habits and might resist changes. It can also be hard to find people with the right skills.</a:t>
            </a:r>
          </a:p>
          <a:p>
            <a:pPr marL="0" indent="0">
              <a:buNone/>
            </a:pPr>
            <a:r>
              <a:rPr lang="en-US" b="1" dirty="0"/>
              <a:t>Challenges:</a:t>
            </a:r>
            <a:endParaRPr lang="en-US" dirty="0"/>
          </a:p>
          <a:p>
            <a:r>
              <a:rPr lang="en-US" dirty="0"/>
              <a:t>Manual work slows everything down and increases mistakes.</a:t>
            </a:r>
          </a:p>
          <a:p>
            <a:r>
              <a:rPr lang="en-US" dirty="0"/>
              <a:t>Security has to be constantly monitored to avoid problems.</a:t>
            </a:r>
          </a:p>
        </p:txBody>
      </p:sp>
      <p:pic>
        <p:nvPicPr>
          <p:cNvPr id="3" name="Picture 2" descr="A diagram of a process&#10;&#10;AI-generated content may be incorrect.">
            <a:extLst>
              <a:ext uri="{FF2B5EF4-FFF2-40B4-BE49-F238E27FC236}">
                <a16:creationId xmlns:a16="http://schemas.microsoft.com/office/drawing/2014/main" id="{4C87B92C-E05F-6A69-6D44-854B48543E79}"/>
              </a:ext>
            </a:extLst>
          </p:cNvPr>
          <p:cNvPicPr>
            <a:picLocks noChangeAspect="1"/>
          </p:cNvPicPr>
          <p:nvPr/>
        </p:nvPicPr>
        <p:blipFill>
          <a:blip r:embed="rId2">
            <a:extLst>
              <a:ext uri="{28A0092B-C50C-407E-A947-70E740481C1C}">
                <a14:useLocalDpi xmlns:a14="http://schemas.microsoft.com/office/drawing/2010/main" val="0"/>
              </a:ext>
            </a:extLst>
          </a:blip>
          <a:srcRect l="10156" r="15087" b="-1"/>
          <a:stretch>
            <a:fillRect/>
          </a:stretch>
        </p:blipFill>
        <p:spPr>
          <a:xfrm>
            <a:off x="6096000" y="701842"/>
            <a:ext cx="5715000" cy="5618915"/>
          </a:xfrm>
          <a:prstGeom prst="rect">
            <a:avLst/>
          </a:prstGeom>
          <a:noFill/>
        </p:spPr>
      </p:pic>
    </p:spTree>
    <p:extLst>
      <p:ext uri="{BB962C8B-B14F-4D97-AF65-F5344CB8AC3E}">
        <p14:creationId xmlns:p14="http://schemas.microsoft.com/office/powerpoint/2010/main" val="3076633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07D39-FBB6-7C78-7C2E-508313CF028C}"/>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B821B3F6-5CE3-33A9-EE75-B4C60D319873}"/>
              </a:ext>
            </a:extLst>
          </p:cNvPr>
          <p:cNvSpPr>
            <a:spLocks noGrp="1"/>
          </p:cNvSpPr>
          <p:nvPr>
            <p:ph type="title"/>
          </p:nvPr>
        </p:nvSpPr>
        <p:spPr>
          <a:xfrm>
            <a:off x="304800" y="288925"/>
            <a:ext cx="9144000" cy="1143000"/>
          </a:xfrm>
        </p:spPr>
        <p:txBody>
          <a:bodyPr vert="horz" lIns="91440" tIns="45720" rIns="91440" bIns="45720" rtlCol="0" anchor="b">
            <a:normAutofit/>
          </a:bodyPr>
          <a:lstStyle/>
          <a:p>
            <a:r>
              <a:rPr lang="en-US" kern="1200" dirty="0"/>
              <a:t>Overcoming Challenges</a:t>
            </a:r>
          </a:p>
        </p:txBody>
      </p:sp>
      <p:pic>
        <p:nvPicPr>
          <p:cNvPr id="3" name="Picture 2" descr="A diagram of a company&#10;&#10;AI-generated content may be incorrect.">
            <a:extLst>
              <a:ext uri="{FF2B5EF4-FFF2-40B4-BE49-F238E27FC236}">
                <a16:creationId xmlns:a16="http://schemas.microsoft.com/office/drawing/2014/main" id="{6C51395E-FAFC-284A-C651-CFD23F2495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825625"/>
            <a:ext cx="5562600" cy="4171950"/>
          </a:xfrm>
          <a:prstGeom prst="rect">
            <a:avLst/>
          </a:prstGeom>
          <a:noFill/>
        </p:spPr>
      </p:pic>
      <p:sp>
        <p:nvSpPr>
          <p:cNvPr id="14" name="Content Placeholder 13">
            <a:extLst>
              <a:ext uri="{FF2B5EF4-FFF2-40B4-BE49-F238E27FC236}">
                <a16:creationId xmlns:a16="http://schemas.microsoft.com/office/drawing/2014/main" id="{794B9A84-6FCF-4C1C-EA67-21160A0A16FF}"/>
              </a:ext>
            </a:extLst>
          </p:cNvPr>
          <p:cNvSpPr>
            <a:spLocks noGrp="1"/>
          </p:cNvSpPr>
          <p:nvPr>
            <p:ph sz="half" idx="2"/>
          </p:nvPr>
        </p:nvSpPr>
        <p:spPr>
          <a:xfrm>
            <a:off x="6248402" y="1825625"/>
            <a:ext cx="4343400" cy="4270375"/>
          </a:xfrm>
        </p:spPr>
        <p:txBody>
          <a:bodyPr vert="horz" lIns="91440" tIns="45720" rIns="91440" bIns="45720" rtlCol="0">
            <a:normAutofit/>
          </a:bodyPr>
          <a:lstStyle/>
          <a:p>
            <a:r>
              <a:rPr lang="en-US" dirty="0"/>
              <a:t>Build a culture of teamwork and shared responsibility.</a:t>
            </a:r>
          </a:p>
          <a:p>
            <a:r>
              <a:rPr lang="en-US" dirty="0"/>
              <a:t>Train team members and help them improve their skills.</a:t>
            </a:r>
          </a:p>
          <a:p>
            <a:r>
              <a:rPr lang="en-US" dirty="0"/>
              <a:t>Automate tasks to reduce mistakes and save time.</a:t>
            </a:r>
          </a:p>
          <a:p>
            <a:r>
              <a:rPr lang="en-US" dirty="0"/>
              <a:t>Encourage feedback, learning, and fixing problems without blaming people.</a:t>
            </a:r>
          </a:p>
        </p:txBody>
      </p:sp>
    </p:spTree>
    <p:extLst>
      <p:ext uri="{BB962C8B-B14F-4D97-AF65-F5344CB8AC3E}">
        <p14:creationId xmlns:p14="http://schemas.microsoft.com/office/powerpoint/2010/main" val="3878241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9144000" cy="1219200"/>
          </a:xfrm>
        </p:spPr>
        <p:txBody>
          <a:bodyPr/>
          <a:lstStyle/>
          <a:p>
            <a:r>
              <a:rPr lang="en-US" dirty="0"/>
              <a:t>Works Cited</a:t>
            </a:r>
            <a:endParaRPr dirty="0"/>
          </a:p>
        </p:txBody>
      </p:sp>
      <p:sp>
        <p:nvSpPr>
          <p:cNvPr id="3" name="Text Placeholder 2"/>
          <p:cNvSpPr>
            <a:spLocks noGrp="1"/>
          </p:cNvSpPr>
          <p:nvPr>
            <p:ph type="body" idx="1"/>
          </p:nvPr>
        </p:nvSpPr>
        <p:spPr>
          <a:xfrm>
            <a:off x="152400" y="1676400"/>
            <a:ext cx="10668000" cy="3886200"/>
          </a:xfrm>
        </p:spPr>
        <p:txBody>
          <a:bodyPr/>
          <a:lstStyle/>
          <a:p>
            <a:pPr indent="-457200"/>
            <a:r>
              <a:rPr lang="en-US" dirty="0"/>
              <a:t>Shorrock, S. (2025, October 30). Why is it just so difficult? barriers to “just culture” in the real world. Humanistic Systems. </a:t>
            </a:r>
            <a:r>
              <a:rPr lang="en-US" dirty="0">
                <a:hlinkClick r:id="rId2"/>
              </a:rPr>
              <a:t>https://humanisticsystems.com/2023/10/18/why-is-it-just-so-difficult-barriers-to-just-culture-in-the-real-world/</a:t>
            </a:r>
            <a:endParaRPr lang="en-US" dirty="0"/>
          </a:p>
          <a:p>
            <a:pPr indent="-457200"/>
            <a:endParaRPr lang="en-US" dirty="0"/>
          </a:p>
          <a:p>
            <a:pPr indent="-457200"/>
            <a:r>
              <a:rPr lang="en-US" dirty="0"/>
              <a:t>Vasiliev, D. (2024, July 30). Overcoming common </a:t>
            </a:r>
            <a:r>
              <a:rPr lang="en-US" dirty="0" err="1"/>
              <a:t>devops</a:t>
            </a:r>
            <a:r>
              <a:rPr lang="en-US" dirty="0"/>
              <a:t> challenges in implementing </a:t>
            </a:r>
            <a:r>
              <a:rPr lang="en-US" dirty="0" err="1"/>
              <a:t>devops</a:t>
            </a:r>
            <a:r>
              <a:rPr lang="en-US" dirty="0"/>
              <a:t>: Solutions for Success. Attract Group. </a:t>
            </a:r>
            <a:r>
              <a:rPr lang="en-US" dirty="0">
                <a:hlinkClick r:id="rId3"/>
              </a:rPr>
              <a:t>https://attractgroup.com/blog/overcoming-common-devops-challenges-in-implementing-devops-solutions-for-success/</a:t>
            </a:r>
            <a:endParaRPr lang="en-US" dirty="0"/>
          </a:p>
          <a:p>
            <a:endParaRPr lang="en-US" dirty="0"/>
          </a:p>
        </p:txBody>
      </p:sp>
    </p:spTree>
    <p:extLst>
      <p:ext uri="{BB962C8B-B14F-4D97-AF65-F5344CB8AC3E}">
        <p14:creationId xmlns:p14="http://schemas.microsoft.com/office/powerpoint/2010/main" val="3444435236"/>
      </p:ext>
    </p:extLst>
  </p:cSld>
  <p:clrMapOvr>
    <a:masterClrMapping/>
  </p:clrMapOvr>
</p:sld>
</file>

<file path=ppt/theme/theme1.xml><?xml version="1.0" encoding="utf-8"?>
<a:theme xmlns:a="http://schemas.openxmlformats.org/drawingml/2006/main" name="Tech Computer 16x9">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2901026.potx" id="{FD85E87A-7813-4F67-9E59-69B5487A1910}" vid="{BDF94C36-3ACF-4CF1-939F-F4211E6D666F}"/>
    </a:ext>
  </a:extLst>
</a:theme>
</file>

<file path=ppt/theme/theme2.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echComputer">
      <a:dk1>
        <a:srgbClr val="000000"/>
      </a:dk1>
      <a:lt1>
        <a:sysClr val="window" lastClr="FFFFFF"/>
      </a:lt1>
      <a:dk2>
        <a:srgbClr val="4D4D4D"/>
      </a:dk2>
      <a:lt2>
        <a:srgbClr val="DDDDDD"/>
      </a:lt2>
      <a:accent1>
        <a:srgbClr val="92D050"/>
      </a:accent1>
      <a:accent2>
        <a:srgbClr val="F7C331"/>
      </a:accent2>
      <a:accent3>
        <a:srgbClr val="47B8C7"/>
      </a:accent3>
      <a:accent4>
        <a:srgbClr val="B074BA"/>
      </a:accent4>
      <a:accent5>
        <a:srgbClr val="F34D47"/>
      </a:accent5>
      <a:accent6>
        <a:srgbClr val="FA8F30"/>
      </a:accent6>
      <a:hlink>
        <a:srgbClr val="47B8C7"/>
      </a:hlink>
      <a:folHlink>
        <a:srgbClr val="969696"/>
      </a:folHlink>
    </a:clrScheme>
    <a:fontScheme name="Consolas-Candara">
      <a:majorFont>
        <a:latin typeface="Consolas"/>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Business technology circuit board design presentation (widescreen)</Template>
  <TotalTime>98</TotalTime>
  <Words>480</Words>
  <Application>Microsoft Office PowerPoint</Application>
  <PresentationFormat>Widescreen</PresentationFormat>
  <Paragraphs>41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Candara</vt:lpstr>
      <vt:lpstr>Consolas</vt:lpstr>
      <vt:lpstr>Tech Computer 16x9</vt:lpstr>
      <vt:lpstr>Barriers to Implementing a Just Culture</vt:lpstr>
      <vt:lpstr>Introduction </vt:lpstr>
      <vt:lpstr>Conceptual Barriers </vt:lpstr>
      <vt:lpstr>Personal and Social Barriers</vt:lpstr>
      <vt:lpstr>Professional and Organizational Barriers</vt:lpstr>
      <vt:lpstr>Legal and Regulatory Barriers</vt:lpstr>
      <vt:lpstr>DevOps Challenges</vt:lpstr>
      <vt:lpstr>Overcoming Challenges</vt:lpstr>
      <vt:lpstr>Works Cited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Kimberly M Orozco</dc:creator>
  <cp:lastModifiedBy>Kimberly M Orozco</cp:lastModifiedBy>
  <cp:revision>3</cp:revision>
  <dcterms:created xsi:type="dcterms:W3CDTF">2025-11-01T22:43:10Z</dcterms:created>
  <dcterms:modified xsi:type="dcterms:W3CDTF">2025-11-02T18:31:58Z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